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Poppins Light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 Light" panose="020B0604020202020204" charset="0"/>
      <p:regular r:id="rId21"/>
    </p:embeddedFont>
  </p:embeddedFontLst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tags" Target="tags/tag1.xml" /><Relationship Id="rId12" Type="http://schemas.openxmlformats.org/officeDocument/2006/relationships/font" Target="fonts/font1.fntdata" /><Relationship Id="rId13" Type="http://schemas.openxmlformats.org/officeDocument/2006/relationships/font" Target="fonts/font2.fntdata" /><Relationship Id="rId14" Type="http://schemas.openxmlformats.org/officeDocument/2006/relationships/font" Target="fonts/font3.fntdata" /><Relationship Id="rId15" Type="http://schemas.openxmlformats.org/officeDocument/2006/relationships/font" Target="fonts/font4.fntdata" /><Relationship Id="rId16" Type="http://schemas.openxmlformats.org/officeDocument/2006/relationships/font" Target="fonts/font5.fntdata" /><Relationship Id="rId17" Type="http://schemas.openxmlformats.org/officeDocument/2006/relationships/font" Target="fonts/font6.fntdata" /><Relationship Id="rId18" Type="http://schemas.openxmlformats.org/officeDocument/2006/relationships/font" Target="fonts/font7.fntdata" /><Relationship Id="rId19" Type="http://schemas.openxmlformats.org/officeDocument/2006/relationships/font" Target="fonts/font8.fntdata" /><Relationship Id="rId2" Type="http://schemas.openxmlformats.org/officeDocument/2006/relationships/notesMaster" Target="notesMasters/notesMaster1.xml" /><Relationship Id="rId20" Type="http://schemas.openxmlformats.org/officeDocument/2006/relationships/font" Target="fonts/font9.fntdata" /><Relationship Id="rId21" Type="http://schemas.openxmlformats.org/officeDocument/2006/relationships/font" Target="fonts/font10.fntdata" /><Relationship Id="rId22" Type="http://schemas.openxmlformats.org/officeDocument/2006/relationships/presProps" Target="presProps.xml" /><Relationship Id="rId23" Type="http://schemas.openxmlformats.org/officeDocument/2006/relationships/viewProps" Target="viewProps.xml" /><Relationship Id="rId24" Type="http://schemas.openxmlformats.org/officeDocument/2006/relationships/theme" Target="theme/theme1.xml" /><Relationship Id="rId25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140081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</p:spPr>
        <p:txBody>
          <a:bodyPr/>
          <a:lstStyle/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2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4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8.jpeg" /><Relationship Id="rId4" Type="http://schemas.openxmlformats.org/officeDocument/2006/relationships/image" Target="../media/image9.jpeg" /><Relationship Id="rId5" Type="http://schemas.openxmlformats.org/officeDocument/2006/relationships/image" Target="../media/image10.jpeg" /><Relationship Id="rId6" Type="http://schemas.openxmlformats.org/officeDocument/2006/relationships/image" Target="../media/image11.jpeg" /><Relationship Id="rId7" Type="http://schemas.openxmlformats.org/officeDocument/2006/relationships/image" Target="../media/image7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2.jpeg" /><Relationship Id="rId4" Type="http://schemas.openxmlformats.org/officeDocument/2006/relationships/image" Target="../media/image13.svg" /><Relationship Id="rId5" Type="http://schemas.openxmlformats.org/officeDocument/2006/relationships/image" Target="../media/image14.svg" /><Relationship Id="rId6" Type="http://schemas.openxmlformats.org/officeDocument/2006/relationships/image" Target="../media/image15.svg" /><Relationship Id="rId7" Type="http://schemas.openxmlformats.org/officeDocument/2006/relationships/image" Target="../media/image7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12.jpeg" /><Relationship Id="rId4" Type="http://schemas.openxmlformats.org/officeDocument/2006/relationships/image" Target="../media/image16.svg" /><Relationship Id="rId5" Type="http://schemas.openxmlformats.org/officeDocument/2006/relationships/image" Target="../media/image17.svg" /><Relationship Id="rId6" Type="http://schemas.openxmlformats.org/officeDocument/2006/relationships/image" Target="../media/image18.svg" /><Relationship Id="rId7" Type="http://schemas.openxmlformats.org/officeDocument/2006/relationships/image" Target="../media/image19.svg" /><Relationship Id="rId8" Type="http://schemas.openxmlformats.org/officeDocument/2006/relationships/image" Target="../media/image7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7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72276"/>
            <a:ext cx="668464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Reproductor de Música 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1133951" y="4276368"/>
            <a:ext cx="721625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Presentado por: </a:t>
            </a: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Gabriel Báez, Gabriel Calvache, Yuliana Valencia</a:t>
            </a: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| Noviembre 2025</a:t>
            </a:r>
            <a:endParaRPr lang="en-US" sz="1750"/>
          </a:p>
        </p:txBody>
      </p:sp>
      <p:sp>
        <p:nvSpPr>
          <p:cNvPr id="5" name="Shape 2"/>
          <p:cNvSpPr/>
          <p:nvPr/>
        </p:nvSpPr>
        <p:spPr>
          <a:xfrm>
            <a:off x="793790" y="4021217"/>
            <a:ext cx="30480" cy="1236107"/>
          </a:xfrm>
          <a:prstGeom prst="rect">
            <a:avLst/>
          </a:prstGeom>
          <a:solidFill>
            <a:srgbClr val="F2F2F3"/>
          </a:solidFill>
        </p:spPr>
        <p:txBody>
          <a:bodyPr/>
          <a:lstStyle/>
          <a:p/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924" y="571143"/>
            <a:ext cx="7692152" cy="1296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Principios de Diseño Gráfico y Usabilidad</a:t>
            </a:r>
            <a:endParaRPr lang="en-US" sz="4050"/>
          </a:p>
        </p:txBody>
      </p:sp>
      <p:sp>
        <p:nvSpPr>
          <p:cNvPr id="4" name="Shape 1"/>
          <p:cNvSpPr/>
          <p:nvPr/>
        </p:nvSpPr>
        <p:spPr>
          <a:xfrm>
            <a:off x="725924" y="2178368"/>
            <a:ext cx="7692152" cy="4583073"/>
          </a:xfrm>
          <a:prstGeom prst="roundRect">
            <a:avLst>
              <a:gd name="adj" fmla="val 19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2"/>
          <p:cNvSpPr/>
          <p:nvPr/>
        </p:nvSpPr>
        <p:spPr>
          <a:xfrm>
            <a:off x="733544" y="2185988"/>
            <a:ext cx="3838456" cy="2976086"/>
          </a:xfrm>
          <a:prstGeom prst="roundRect">
            <a:avLst>
              <a:gd name="adj" fmla="val 2927"/>
            </a:avLst>
          </a:prstGeom>
          <a:solidFill>
            <a:srgbClr val="3D3D42"/>
          </a:solidFill>
        </p:spPr>
        <p:txBody>
          <a:bodyPr/>
          <a:lstStyle/>
          <a:p/>
        </p:txBody>
      </p:sp>
      <p:sp>
        <p:nvSpPr>
          <p:cNvPr id="6" name="Text 3"/>
          <p:cNvSpPr/>
          <p:nvPr/>
        </p:nvSpPr>
        <p:spPr>
          <a:xfrm>
            <a:off x="940951" y="2393394"/>
            <a:ext cx="3423642" cy="7777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Paleta Cromática Vibrante</a:t>
            </a:r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940951" y="3295531"/>
            <a:ext cx="3423642" cy="13273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Uso de tonos </a:t>
            </a:r>
            <a:r>
              <a:rPr lang="en-US" sz="160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magenta y violeta</a:t>
            </a: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evocar energía, movimiento y una experiencia sensorial inmersiva que acompaña al ritmo musical.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4572000" y="2185988"/>
            <a:ext cx="3838456" cy="2976086"/>
          </a:xfrm>
          <a:prstGeom prst="rect">
            <a:avLst/>
          </a:prstGeom>
          <a:solidFill>
            <a:srgbClr val="3D3D42"/>
          </a:solidFill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4572000" y="2185988"/>
            <a:ext cx="22860" cy="2976086"/>
          </a:xfrm>
          <a:prstGeom prst="roundRect">
            <a:avLst>
              <a:gd name="adj" fmla="val 381104"/>
            </a:avLst>
          </a:prstGeom>
          <a:solidFill>
            <a:srgbClr val="56565B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4779407" y="2393394"/>
            <a:ext cx="3423642" cy="7777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Flujo de Interacción Natural</a:t>
            </a:r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4779407" y="3295531"/>
            <a:ext cx="3423642" cy="16591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Controles de reproducción ubicados en la parte inferior para seguir la secuencia lógica de usuario: </a:t>
            </a:r>
            <a:r>
              <a:rPr lang="en-US" sz="16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selección → reproducción → visualización</a:t>
            </a: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733544" y="5162074"/>
            <a:ext cx="7676912" cy="1591747"/>
          </a:xfrm>
          <a:prstGeom prst="rect">
            <a:avLst/>
          </a:prstGeom>
          <a:solidFill>
            <a:srgbClr val="3D3D42"/>
          </a:solidFill>
        </p:spPr>
        <p:txBody>
          <a:bodyPr/>
          <a:lstStyle/>
          <a:p/>
        </p:txBody>
      </p:sp>
      <p:sp>
        <p:nvSpPr>
          <p:cNvPr id="13" name="Shape 10"/>
          <p:cNvSpPr/>
          <p:nvPr/>
        </p:nvSpPr>
        <p:spPr>
          <a:xfrm>
            <a:off x="733544" y="5162074"/>
            <a:ext cx="7676912" cy="22860"/>
          </a:xfrm>
          <a:prstGeom prst="roundRect">
            <a:avLst>
              <a:gd name="adj" fmla="val 381104"/>
            </a:avLst>
          </a:prstGeom>
          <a:solidFill>
            <a:srgbClr val="56565B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940951" y="5369481"/>
            <a:ext cx="3399592" cy="3888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Jerarquía Visual Clara</a:t>
            </a:r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940951" y="5882759"/>
            <a:ext cx="7262098" cy="663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lienzo de dibujo (PictureBox) se coloca en el centro, funcionando como el </a:t>
            </a:r>
            <a:r>
              <a:rPr lang="en-US" sz="16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elemento visual principal</a:t>
            </a: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 capta la atención del usuario.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725924" y="6994684"/>
            <a:ext cx="7692152" cy="663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objetivo del diseño es simular una experiencia sensorial donde el usuario percibe el ritmo a través del color y la forma.</a:t>
            </a:r>
            <a:endParaRPr lang="en-US" sz="1600"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1062514"/>
            <a:ext cx="7915275" cy="10970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Arquitectura de la Animación de Onda Sonora</a:t>
            </a:r>
            <a:endParaRPr lang="en-US" sz="3450"/>
          </a:p>
        </p:txBody>
      </p:sp>
      <p:sp>
        <p:nvSpPr>
          <p:cNvPr id="4" name="Shape 1"/>
          <p:cNvSpPr/>
          <p:nvPr/>
        </p:nvSpPr>
        <p:spPr>
          <a:xfrm>
            <a:off x="614363" y="2422803"/>
            <a:ext cx="3869888" cy="2284333"/>
          </a:xfrm>
          <a:prstGeom prst="roundRect">
            <a:avLst>
              <a:gd name="adj" fmla="val 4804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2"/>
          <p:cNvSpPr/>
          <p:nvPr/>
        </p:nvSpPr>
        <p:spPr>
          <a:xfrm>
            <a:off x="591503" y="2422803"/>
            <a:ext cx="91440" cy="2284333"/>
          </a:xfrm>
          <a:prstGeom prst="roundRect">
            <a:avLst>
              <a:gd name="adj" fmla="val 80637"/>
            </a:avLst>
          </a:prstGeom>
          <a:solidFill>
            <a:srgbClr val="F2F2F3"/>
          </a:solidFill>
        </p:spPr>
        <p:txBody>
          <a:bodyPr/>
          <a:lstStyle/>
          <a:p/>
        </p:txBody>
      </p:sp>
      <p:sp>
        <p:nvSpPr>
          <p:cNvPr id="6" name="Text 3"/>
          <p:cNvSpPr/>
          <p:nvPr/>
        </p:nvSpPr>
        <p:spPr>
          <a:xfrm>
            <a:off x="881301" y="2621161"/>
            <a:ext cx="2700933" cy="329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Base Trigonométrica</a:t>
            </a:r>
            <a:endParaRPr lang="en-US" sz="2050"/>
          </a:p>
        </p:txBody>
      </p:sp>
      <p:sp>
        <p:nvSpPr>
          <p:cNvPr id="7" name="Text 4"/>
          <p:cNvSpPr/>
          <p:nvPr/>
        </p:nvSpPr>
        <p:spPr>
          <a:xfrm>
            <a:off x="881301" y="3055620"/>
            <a:ext cx="3404592" cy="8429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animación utiliza la función </a:t>
            </a:r>
            <a:r>
              <a:rPr lang="en-US" sz="13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seno</a:t>
            </a: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modelar las ondas sonoras, proporcionando un movimiento suave y armónico.</a:t>
            </a:r>
            <a:endParaRPr lang="en-US" sz="1350"/>
          </a:p>
        </p:txBody>
      </p:sp>
      <p:sp>
        <p:nvSpPr>
          <p:cNvPr id="8" name="Shape 5"/>
          <p:cNvSpPr/>
          <p:nvPr/>
        </p:nvSpPr>
        <p:spPr>
          <a:xfrm>
            <a:off x="4659749" y="2422803"/>
            <a:ext cx="3869888" cy="2284333"/>
          </a:xfrm>
          <a:prstGeom prst="roundRect">
            <a:avLst>
              <a:gd name="adj" fmla="val 4804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4636889" y="2422803"/>
            <a:ext cx="91440" cy="2284333"/>
          </a:xfrm>
          <a:prstGeom prst="roundRect">
            <a:avLst>
              <a:gd name="adj" fmla="val 80637"/>
            </a:avLst>
          </a:prstGeom>
          <a:solidFill>
            <a:srgbClr val="F2F2F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4926687" y="2621161"/>
            <a:ext cx="3404592" cy="658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Ciclo de Redibujo Continuo</a:t>
            </a:r>
            <a:endParaRPr lang="en-US" sz="2050"/>
          </a:p>
        </p:txBody>
      </p:sp>
      <p:sp>
        <p:nvSpPr>
          <p:cNvPr id="11" name="Text 8"/>
          <p:cNvSpPr/>
          <p:nvPr/>
        </p:nvSpPr>
        <p:spPr>
          <a:xfrm>
            <a:off x="4926687" y="3384828"/>
            <a:ext cx="3404592" cy="1123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 temporizador (Timer) gestiona ciclos de actualización que fuerzan el </a:t>
            </a:r>
            <a:r>
              <a:rPr lang="en-US" sz="13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redibujo del lienzo</a:t>
            </a: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(PictureBox), generando la ilusión de movimiento continuo y fluido.</a:t>
            </a:r>
            <a:endParaRPr lang="en-US" sz="1350"/>
          </a:p>
        </p:txBody>
      </p:sp>
      <p:sp>
        <p:nvSpPr>
          <p:cNvPr id="12" name="Shape 9"/>
          <p:cNvSpPr/>
          <p:nvPr/>
        </p:nvSpPr>
        <p:spPr>
          <a:xfrm>
            <a:off x="614363" y="4882634"/>
            <a:ext cx="3869888" cy="2284333"/>
          </a:xfrm>
          <a:prstGeom prst="roundRect">
            <a:avLst>
              <a:gd name="adj" fmla="val 4804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0"/>
          <p:cNvSpPr/>
          <p:nvPr/>
        </p:nvSpPr>
        <p:spPr>
          <a:xfrm>
            <a:off x="591503" y="4882634"/>
            <a:ext cx="91440" cy="2284333"/>
          </a:xfrm>
          <a:prstGeom prst="roundRect">
            <a:avLst>
              <a:gd name="adj" fmla="val 80637"/>
            </a:avLst>
          </a:prstGeom>
          <a:solidFill>
            <a:srgbClr val="F2F2F3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881301" y="5080992"/>
            <a:ext cx="3404592" cy="658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Efecto de Propagación (</a:t>
            </a:r>
            <a:r>
              <a:rPr lang="en-US" sz="2050" i="1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Offset</a:t>
            </a:r>
            <a:r>
              <a:rPr lang="en-US" sz="20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)</a:t>
            </a:r>
            <a:endParaRPr lang="en-US" sz="2050"/>
          </a:p>
        </p:txBody>
      </p:sp>
      <p:sp>
        <p:nvSpPr>
          <p:cNvPr id="15" name="Text 12"/>
          <p:cNvSpPr/>
          <p:nvPr/>
        </p:nvSpPr>
        <p:spPr>
          <a:xfrm>
            <a:off x="881301" y="5844659"/>
            <a:ext cx="3404592" cy="1123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parámetro </a:t>
            </a:r>
            <a:r>
              <a:rPr lang="en-US" sz="13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offset</a:t>
            </a: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incrementa su valor en cada </a:t>
            </a:r>
            <a:r>
              <a:rPr lang="en-US" sz="1350" i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tick</a:t>
            </a:r>
            <a:r>
              <a:rPr lang="en-US" sz="13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del temporizador, desplazando horizontalmente la onda. Esto simula la propagación del sonido en el tiempo.</a:t>
            </a:r>
            <a:endParaRPr lang="en-US" sz="1350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561618" y="570905"/>
            <a:ext cx="9913025" cy="501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Cálculo Central: La Ecuación de la Onda Animada</a:t>
            </a:r>
            <a:endParaRPr lang="en-US" sz="3150"/>
          </a:p>
        </p:txBody>
      </p:sp>
      <p:sp>
        <p:nvSpPr>
          <p:cNvPr id="3" name="Text 1"/>
          <p:cNvSpPr/>
          <p:nvPr/>
        </p:nvSpPr>
        <p:spPr>
          <a:xfrm>
            <a:off x="561618" y="1393269"/>
            <a:ext cx="13507165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posición vertical (</a:t>
            </a:r>
            <a:r>
              <a:rPr lang="en-US" sz="1250" i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de cada punto en la onda se calcula usando la siguiente ecuación de desplazamiento sinusoidal: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561618" y="1853089"/>
            <a:ext cx="13507165" cy="4010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18" y="1853089"/>
            <a:ext cx="13507165" cy="401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1618" y="2617589"/>
            <a:ext cx="2899291" cy="2507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Definición de Variables Clave</a:t>
            </a:r>
            <a:endParaRPr lang="en-US" sz="1550"/>
          </a:p>
        </p:txBody>
      </p:sp>
      <p:sp>
        <p:nvSpPr>
          <p:cNvPr id="7" name="Text 4"/>
          <p:cNvSpPr/>
          <p:nvPr/>
        </p:nvSpPr>
        <p:spPr>
          <a:xfrm>
            <a:off x="561618" y="3028712"/>
            <a:ext cx="7252692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Tx/>
              <a:buChar char="•"/>
            </a:pPr>
            <a:r>
              <a:rPr lang="en-US" sz="12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M: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Posición media del eje vertical (centro del lienzo).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561618" y="3341489"/>
            <a:ext cx="7252692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Tx/>
              <a:buChar char="•"/>
            </a:pPr>
            <a:r>
              <a:rPr lang="en-US" sz="12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A: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Amplitud de la onda (fijada en 30 píxeles para equilibrio visual).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561618" y="3654266"/>
            <a:ext cx="7252692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Tx/>
              <a:buChar char="•"/>
            </a:pPr>
            <a:r>
              <a:rPr lang="en-US" sz="12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x: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Posición horizontal actual del punto a dibujar.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561618" y="3967043"/>
            <a:ext cx="7252692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Tx/>
              <a:buChar char="•"/>
            </a:pPr>
            <a:r>
              <a:rPr lang="en-US" sz="12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offset: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Parámetro que genera el desplazamiento temporal y la animación.</a:t>
            </a:r>
            <a:endParaRPr lang="en-US" sz="1250"/>
          </a:p>
        </p:txBody>
      </p:sp>
      <p:sp>
        <p:nvSpPr>
          <p:cNvPr id="11" name="Text 8"/>
          <p:cNvSpPr/>
          <p:nvPr/>
        </p:nvSpPr>
        <p:spPr>
          <a:xfrm>
            <a:off x="8213408" y="2717840"/>
            <a:ext cx="2831187" cy="529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50ms</a:t>
            </a:r>
            <a:endParaRPr lang="en-US" sz="4150"/>
          </a:p>
        </p:txBody>
      </p:sp>
      <p:sp>
        <p:nvSpPr>
          <p:cNvPr id="12" name="Text 9"/>
          <p:cNvSpPr/>
          <p:nvPr/>
        </p:nvSpPr>
        <p:spPr>
          <a:xfrm>
            <a:off x="8625959" y="3447812"/>
            <a:ext cx="2006084" cy="2507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Frecuencia</a:t>
            </a:r>
            <a:endParaRPr lang="en-US" sz="1550"/>
          </a:p>
        </p:txBody>
      </p:sp>
      <p:sp>
        <p:nvSpPr>
          <p:cNvPr id="13" name="Text 10"/>
          <p:cNvSpPr/>
          <p:nvPr/>
        </p:nvSpPr>
        <p:spPr>
          <a:xfrm>
            <a:off x="8213408" y="3858935"/>
            <a:ext cx="2831187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Intervalo del temporizador.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11245096" y="2717840"/>
            <a:ext cx="2831187" cy="529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4150"/>
          </a:p>
        </p:txBody>
      </p:sp>
      <p:sp>
        <p:nvSpPr>
          <p:cNvPr id="15" name="Text 12"/>
          <p:cNvSpPr/>
          <p:nvPr/>
        </p:nvSpPr>
        <p:spPr>
          <a:xfrm>
            <a:off x="11657648" y="3447812"/>
            <a:ext cx="2006084" cy="2507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Incremento</a:t>
            </a:r>
            <a:endParaRPr lang="en-US" sz="1550"/>
          </a:p>
        </p:txBody>
      </p:sp>
      <p:sp>
        <p:nvSpPr>
          <p:cNvPr id="16" name="Text 13"/>
          <p:cNvSpPr/>
          <p:nvPr/>
        </p:nvSpPr>
        <p:spPr>
          <a:xfrm>
            <a:off x="11245096" y="3858935"/>
            <a:ext cx="2831187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Unidades de aumento del </a:t>
            </a:r>
            <a:r>
              <a:rPr lang="en-US" sz="1250" i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offset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250"/>
          </a:p>
        </p:txBody>
      </p:sp>
      <p:sp>
        <p:nvSpPr>
          <p:cNvPr id="17" name="Text 14"/>
          <p:cNvSpPr/>
          <p:nvPr/>
        </p:nvSpPr>
        <p:spPr>
          <a:xfrm>
            <a:off x="9729192" y="4516636"/>
            <a:ext cx="2831187" cy="529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20</a:t>
            </a:r>
            <a:endParaRPr lang="en-US" sz="4150"/>
          </a:p>
        </p:txBody>
      </p:sp>
      <p:sp>
        <p:nvSpPr>
          <p:cNvPr id="18" name="Text 15"/>
          <p:cNvSpPr/>
          <p:nvPr/>
        </p:nvSpPr>
        <p:spPr>
          <a:xfrm>
            <a:off x="10141744" y="5246608"/>
            <a:ext cx="2006084" cy="2507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FPS</a:t>
            </a:r>
            <a:endParaRPr lang="en-US" sz="1550"/>
          </a:p>
        </p:txBody>
      </p:sp>
      <p:sp>
        <p:nvSpPr>
          <p:cNvPr id="19" name="Text 16"/>
          <p:cNvSpPr/>
          <p:nvPr/>
        </p:nvSpPr>
        <p:spPr>
          <a:xfrm>
            <a:off x="9729192" y="5657731"/>
            <a:ext cx="2831187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Frecuencia de animación aproximada.</a:t>
            </a:r>
            <a:endParaRPr lang="en-US" sz="1250"/>
          </a:p>
        </p:txBody>
      </p:sp>
      <p:sp>
        <p:nvSpPr>
          <p:cNvPr id="20" name="Text 17"/>
          <p:cNvSpPr/>
          <p:nvPr/>
        </p:nvSpPr>
        <p:spPr>
          <a:xfrm>
            <a:off x="561618" y="6275427"/>
            <a:ext cx="13507165" cy="5210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onda se traza mediante </a:t>
            </a:r>
            <a:r>
              <a:rPr lang="en-US" sz="12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líneas verticales separadas por 5 píxeles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r>
              <a:rPr lang="en-US" sz="1250" i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paso=5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). Este espaciado optimiza el rendimiento del dibujo, y el llamado a </a:t>
            </a:r>
            <a:r>
              <a:rPr lang="en-US" sz="12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canvas.Invalidate()</a:t>
            </a:r>
            <a:r>
              <a:rPr lang="en-US" sz="12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asegura un flujo visual a 20 cuadros por segundo (FPS).</a:t>
            </a:r>
            <a:endParaRPr lang="en-US" sz="1250"/>
          </a:p>
        </p:txBody>
      </p:sp>
      <p:sp>
        <p:nvSpPr>
          <p:cNvPr id="21" name="Shape 18"/>
          <p:cNvSpPr/>
          <p:nvPr/>
        </p:nvSpPr>
        <p:spPr>
          <a:xfrm>
            <a:off x="561618" y="6976943"/>
            <a:ext cx="13507165" cy="681633"/>
          </a:xfrm>
          <a:prstGeom prst="roundRect">
            <a:avLst>
              <a:gd name="adj" fmla="val 9889"/>
            </a:avLst>
          </a:prstGeom>
          <a:solidFill>
            <a:srgbClr val="252528"/>
          </a:solidFill>
        </p:spPr>
        <p:txBody>
          <a:bodyPr/>
          <a:lstStyle/>
          <a:p/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5" y="7219831"/>
            <a:ext cx="200501" cy="16037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82873" y="7177326"/>
            <a:ext cx="12825532" cy="256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Nota: Esta visualización es simbólica, representando energía y ritmo, y no está sincronizada con las frecuencias reales del audio (no usa FFT).</a:t>
            </a:r>
            <a:endParaRPr lang="en-US" sz="125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0689" y="7788321"/>
            <a:ext cx="1895740" cy="348648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674965" y="530304"/>
            <a:ext cx="6915031" cy="60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 del Código Fuente</a:t>
            </a:r>
            <a:endParaRPr lang="en-US" sz="3750"/>
          </a:p>
        </p:txBody>
      </p:sp>
      <p:sp>
        <p:nvSpPr>
          <p:cNvPr id="3" name="Text 1"/>
          <p:cNvSpPr/>
          <p:nvPr/>
        </p:nvSpPr>
        <p:spPr>
          <a:xfrm>
            <a:off x="674965" y="1518523"/>
            <a:ext cx="13280468" cy="308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proyecto se divide en dos módulos principales para la gestión de la lógica de negocio y la interfaz de usuario.</a:t>
            </a:r>
            <a:endParaRPr lang="en-US" sz="15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65" y="2044065"/>
            <a:ext cx="6640235" cy="771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7727" y="3008233"/>
            <a:ext cx="2742962" cy="301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Clase: CMediaPlayer.cs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867727" y="3425190"/>
            <a:ext cx="6254710" cy="941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Contiene la </a:t>
            </a: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lógica de dibujo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animación gráfica. El método clave </a:t>
            </a:r>
            <a:r>
              <a:rPr lang="en-US" sz="150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DrawWave()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ejecuta los cálculos trigonométricos. El </a:t>
            </a:r>
            <a:r>
              <a:rPr lang="en-US" sz="150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animationTimer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gestiona el </a:t>
            </a:r>
            <a:r>
              <a:rPr lang="en-US" sz="1500" i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tick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50 ms para el refresco visual.</a:t>
            </a:r>
            <a:endParaRPr lang="en-US" sz="15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044065"/>
            <a:ext cx="6640235" cy="7714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7962" y="3008233"/>
            <a:ext cx="3515082" cy="301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Formulario: frmMusicPlayer.cs</a:t>
            </a:r>
            <a:endParaRPr lang="en-US" sz="1850"/>
          </a:p>
        </p:txBody>
      </p:sp>
      <p:sp>
        <p:nvSpPr>
          <p:cNvPr id="9" name="Text 5"/>
          <p:cNvSpPr/>
          <p:nvPr/>
        </p:nvSpPr>
        <p:spPr>
          <a:xfrm>
            <a:off x="7507962" y="3425190"/>
            <a:ext cx="6254710" cy="1249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 encarga de la </a:t>
            </a: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interfaz de usuario (UI)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Implementa los manejadores de eventos para los botones de control (Reproducir, Pausar, Detener) y la selección de archivos MP3, integrando el control </a:t>
            </a:r>
            <a:r>
              <a:rPr lang="en-US" sz="150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AxWindowsMediaPlayer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5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113" y="5209818"/>
            <a:ext cx="3858935" cy="231421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233" y="5209818"/>
            <a:ext cx="3858935" cy="23142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0689" y="7788321"/>
            <a:ext cx="1895740" cy="348648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210270"/>
            <a:ext cx="988361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Logros y Conclusiones del Proyecto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237267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23141"/>
            <a:ext cx="30385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Integración Funcional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793790" y="3713559"/>
            <a:ext cx="4158615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proyecto demuestra la viabilidad de integrar la reproducción de audio (AxWindowsMediaPlayer) con la animación gráfica en tiempo real dentro del ecosistema de C# y Windows Forms.</a:t>
            </a:r>
            <a:endParaRPr lang="en-US" sz="17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893" y="237267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231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Diseño Eficaz</a:t>
            </a:r>
            <a:endParaRPr lang="en-US" sz="2200"/>
          </a:p>
        </p:txBody>
      </p:sp>
      <p:sp>
        <p:nvSpPr>
          <p:cNvPr id="8" name="Text 4"/>
          <p:cNvSpPr/>
          <p:nvPr/>
        </p:nvSpPr>
        <p:spPr>
          <a:xfrm>
            <a:off x="5235893" y="3713559"/>
            <a:ext cx="4158615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 alcanzó el objetivo de un diseño funcional, visualmente atractivo y con una animación fluida, utilizando la simplicidad de la función seno como modelo eficaz de onda sonora.</a:t>
            </a:r>
            <a:endParaRPr lang="en-US" sz="17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77995" y="237267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231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Modularización</a:t>
            </a:r>
            <a:endParaRPr lang="en-US" sz="2200"/>
          </a:p>
        </p:txBody>
      </p:sp>
      <p:sp>
        <p:nvSpPr>
          <p:cNvPr id="11" name="Text 6"/>
          <p:cNvSpPr/>
          <p:nvPr/>
        </p:nvSpPr>
        <p:spPr>
          <a:xfrm>
            <a:off x="9677995" y="3713559"/>
            <a:ext cx="41586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división en clases separadas facilita el mantenimiento futuro y permite la ampliación del proyecto sin afectar la lógica central de la interfaz.</a:t>
            </a:r>
            <a:endParaRPr lang="en-US" sz="1750"/>
          </a:p>
        </p:txBody>
      </p:sp>
      <p:sp>
        <p:nvSpPr>
          <p:cNvPr id="12" name="Text 7"/>
          <p:cNvSpPr/>
          <p:nvPr/>
        </p:nvSpPr>
        <p:spPr>
          <a:xfrm>
            <a:off x="1133951" y="6038374"/>
            <a:ext cx="1270265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enfoque elegido prioriza el equilibrio entre </a:t>
            </a: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simplicidad visual</a:t>
            </a: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</a:t>
            </a: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eficiencia computacional</a:t>
            </a: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logrando una experiencia interactiva sin recurrir a complejas librerías externas.</a:t>
            </a:r>
            <a:endParaRPr lang="en-US" sz="1750"/>
          </a:p>
        </p:txBody>
      </p:sp>
      <p:sp>
        <p:nvSpPr>
          <p:cNvPr id="13" name="Shape 8"/>
          <p:cNvSpPr/>
          <p:nvPr/>
        </p:nvSpPr>
        <p:spPr>
          <a:xfrm>
            <a:off x="793790" y="5783223"/>
            <a:ext cx="30480" cy="1236107"/>
          </a:xfrm>
          <a:prstGeom prst="rect">
            <a:avLst/>
          </a:prstGeom>
          <a:solidFill>
            <a:srgbClr val="F2F2F3"/>
          </a:solidFill>
        </p:spPr>
        <p:txBody>
          <a:bodyPr/>
          <a:lstStyle/>
          <a:p/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0689" y="7788321"/>
            <a:ext cx="1895740" cy="348648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668417" y="526852"/>
            <a:ext cx="10805517" cy="596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Próximas Mejoras y Evolución del Reproductor</a:t>
            </a:r>
            <a:endParaRPr lang="en-US" sz="3750"/>
          </a:p>
        </p:txBody>
      </p:sp>
      <p:sp>
        <p:nvSpPr>
          <p:cNvPr id="3" name="Text 1"/>
          <p:cNvSpPr/>
          <p:nvPr/>
        </p:nvSpPr>
        <p:spPr>
          <a:xfrm>
            <a:off x="668417" y="1505664"/>
            <a:ext cx="13293565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Para llevar la visualización y la experiencia de usuario al siguiente nivel, se proponen las siguientes implementaciones: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668417" y="2025968"/>
            <a:ext cx="764024" cy="1405890"/>
          </a:xfrm>
          <a:prstGeom prst="roundRect">
            <a:avLst>
              <a:gd name="adj" fmla="val 3600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7137" y="2585680"/>
            <a:ext cx="286464" cy="286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3417" y="2216944"/>
            <a:ext cx="3374827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Análisis de Frecuencias (FFT)</a:t>
            </a:r>
            <a:endParaRPr lang="en-US" sz="1850"/>
          </a:p>
        </p:txBody>
      </p:sp>
      <p:sp>
        <p:nvSpPr>
          <p:cNvPr id="7" name="Text 4"/>
          <p:cNvSpPr/>
          <p:nvPr/>
        </p:nvSpPr>
        <p:spPr>
          <a:xfrm>
            <a:off x="1623417" y="2629853"/>
            <a:ext cx="12338566" cy="611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Implementar la </a:t>
            </a: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Transformada Rápida de Fourier (FFT)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que la visualización gráfica refleje fielmente las frecuencias reales del audio reproducido.</a:t>
            </a:r>
            <a:endParaRPr lang="en-US" sz="1500"/>
          </a:p>
        </p:txBody>
      </p:sp>
      <p:sp>
        <p:nvSpPr>
          <p:cNvPr id="8" name="Shape 5"/>
          <p:cNvSpPr/>
          <p:nvPr/>
        </p:nvSpPr>
        <p:spPr>
          <a:xfrm>
            <a:off x="668417" y="3622834"/>
            <a:ext cx="764024" cy="1145977"/>
          </a:xfrm>
          <a:prstGeom prst="roundRect">
            <a:avLst>
              <a:gd name="adj" fmla="val 3600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07137" y="4052530"/>
            <a:ext cx="286464" cy="286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3417" y="3813810"/>
            <a:ext cx="2387560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Colores Dinámicos</a:t>
            </a:r>
            <a:endParaRPr lang="en-US" sz="1850"/>
          </a:p>
        </p:txBody>
      </p:sp>
      <p:sp>
        <p:nvSpPr>
          <p:cNvPr id="11" name="Text 7"/>
          <p:cNvSpPr/>
          <p:nvPr/>
        </p:nvSpPr>
        <p:spPr>
          <a:xfrm>
            <a:off x="1623417" y="4226719"/>
            <a:ext cx="12338566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Añadir un sistema de cambio de colores basado en el volumen, el ritmo o la intensidad del audio para aumentar el impacto visual.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668417" y="4959787"/>
            <a:ext cx="764024" cy="1405890"/>
          </a:xfrm>
          <a:prstGeom prst="roundRect">
            <a:avLst>
              <a:gd name="adj" fmla="val 3600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07137" y="5519499"/>
            <a:ext cx="286464" cy="286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23417" y="5150763"/>
            <a:ext cx="2929176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Migración de Plataforma</a:t>
            </a:r>
            <a:endParaRPr lang="en-US" sz="1850"/>
          </a:p>
        </p:txBody>
      </p:sp>
      <p:sp>
        <p:nvSpPr>
          <p:cNvPr id="15" name="Text 10"/>
          <p:cNvSpPr/>
          <p:nvPr/>
        </p:nvSpPr>
        <p:spPr>
          <a:xfrm>
            <a:off x="1623417" y="5563672"/>
            <a:ext cx="12338566" cy="611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Considerar la migración a frameworks modernos como </a:t>
            </a:r>
            <a:r>
              <a:rPr lang="en-US" sz="15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WPF o .NET MAUI</a:t>
            </a: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aprovechar la aceleración por GPU y mejorar la calidad del renderizado gráfico.</a:t>
            </a:r>
            <a:endParaRPr lang="en-US" sz="1500"/>
          </a:p>
        </p:txBody>
      </p:sp>
      <p:sp>
        <p:nvSpPr>
          <p:cNvPr id="16" name="Shape 11"/>
          <p:cNvSpPr/>
          <p:nvPr/>
        </p:nvSpPr>
        <p:spPr>
          <a:xfrm>
            <a:off x="668417" y="6556653"/>
            <a:ext cx="764024" cy="1145977"/>
          </a:xfrm>
          <a:prstGeom prst="roundRect">
            <a:avLst>
              <a:gd name="adj" fmla="val 3600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07137" y="6986349"/>
            <a:ext cx="286464" cy="286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3417" y="6747629"/>
            <a:ext cx="3323749" cy="298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Funcionalidades Avanzadas</a:t>
            </a:r>
            <a:endParaRPr lang="en-US" sz="1850"/>
          </a:p>
        </p:txBody>
      </p:sp>
      <p:sp>
        <p:nvSpPr>
          <p:cNvPr id="19" name="Text 13"/>
          <p:cNvSpPr/>
          <p:nvPr/>
        </p:nvSpPr>
        <p:spPr>
          <a:xfrm>
            <a:off x="1623417" y="7160538"/>
            <a:ext cx="12338566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Incorporar soporte para listas de reproducción, gestión de metadatos (ID3 Tags) y controles de volumen integrados con transiciones UI suaves.</a:t>
            </a:r>
            <a:endParaRPr lang="en-US" sz="15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0689" y="7788321"/>
            <a:ext cx="1895740" cy="348648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793790" y="1000006"/>
            <a:ext cx="910625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Recursos y Referencias Técnicas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070" y="2308384"/>
            <a:ext cx="1588413" cy="90725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934" y="2308384"/>
            <a:ext cx="1588413" cy="90725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798" y="2308384"/>
            <a:ext cx="1588413" cy="90725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93790" y="3616762"/>
            <a:ext cx="13042821" cy="2631758"/>
          </a:xfrm>
          <a:prstGeom prst="roundRect">
            <a:avLst>
              <a:gd name="adj" fmla="val 36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2"/>
          <p:cNvSpPr/>
          <p:nvPr/>
        </p:nvSpPr>
        <p:spPr>
          <a:xfrm>
            <a:off x="801410" y="3624382"/>
            <a:ext cx="13027582" cy="65793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/>
        </p:txBody>
      </p:sp>
      <p:sp>
        <p:nvSpPr>
          <p:cNvPr id="8" name="Text 3"/>
          <p:cNvSpPr/>
          <p:nvPr/>
        </p:nvSpPr>
        <p:spPr>
          <a:xfrm>
            <a:off x="1028343" y="3768090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Windows Forms</a:t>
            </a:r>
            <a:endParaRPr lang="en-US" sz="1750"/>
          </a:p>
        </p:txBody>
      </p:sp>
      <p:sp>
        <p:nvSpPr>
          <p:cNvPr id="9" name="Text 4"/>
          <p:cNvSpPr/>
          <p:nvPr/>
        </p:nvSpPr>
        <p:spPr>
          <a:xfrm>
            <a:off x="4940379" y="3768090"/>
            <a:ext cx="8661797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Microsoft Docs — </a:t>
            </a:r>
            <a:r>
              <a:rPr lang="en-US" sz="17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System.Windows.Forms</a:t>
            </a: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Namespace</a:t>
            </a:r>
            <a:endParaRPr lang="en-US" sz="1750"/>
          </a:p>
        </p:txBody>
      </p:sp>
      <p:sp>
        <p:nvSpPr>
          <p:cNvPr id="10" name="Shape 5"/>
          <p:cNvSpPr/>
          <p:nvPr/>
        </p:nvSpPr>
        <p:spPr>
          <a:xfrm>
            <a:off x="801410" y="4282321"/>
            <a:ext cx="13027582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/>
        </p:txBody>
      </p:sp>
      <p:sp>
        <p:nvSpPr>
          <p:cNvPr id="11" name="Text 6"/>
          <p:cNvSpPr/>
          <p:nvPr/>
        </p:nvSpPr>
        <p:spPr>
          <a:xfrm>
            <a:off x="1028343" y="4426029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Dibujo Gráfico</a:t>
            </a:r>
            <a:endParaRPr lang="en-US" sz="1750"/>
          </a:p>
        </p:txBody>
      </p:sp>
      <p:sp>
        <p:nvSpPr>
          <p:cNvPr id="12" name="Text 7"/>
          <p:cNvSpPr/>
          <p:nvPr/>
        </p:nvSpPr>
        <p:spPr>
          <a:xfrm>
            <a:off x="4940379" y="4426029"/>
            <a:ext cx="86617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Microsoft Docs — Graphics and Drawing in GDI+</a:t>
            </a:r>
            <a:endParaRPr lang="en-US" sz="1750"/>
          </a:p>
        </p:txBody>
      </p:sp>
      <p:sp>
        <p:nvSpPr>
          <p:cNvPr id="13" name="Shape 8"/>
          <p:cNvSpPr/>
          <p:nvPr/>
        </p:nvSpPr>
        <p:spPr>
          <a:xfrm>
            <a:off x="801410" y="4932640"/>
            <a:ext cx="13027582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/>
        </p:txBody>
      </p:sp>
      <p:sp>
        <p:nvSpPr>
          <p:cNvPr id="14" name="Text 9"/>
          <p:cNvSpPr/>
          <p:nvPr/>
        </p:nvSpPr>
        <p:spPr>
          <a:xfrm>
            <a:off x="1028343" y="5076349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Eventos y Animación</a:t>
            </a:r>
            <a:endParaRPr lang="en-US" sz="1750"/>
          </a:p>
        </p:txBody>
      </p:sp>
      <p:sp>
        <p:nvSpPr>
          <p:cNvPr id="15" name="Text 10"/>
          <p:cNvSpPr/>
          <p:nvPr/>
        </p:nvSpPr>
        <p:spPr>
          <a:xfrm>
            <a:off x="4940379" y="5076349"/>
            <a:ext cx="86617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MSDN — Timers and Event Handling in C#</a:t>
            </a:r>
            <a:endParaRPr lang="en-US" sz="1750"/>
          </a:p>
        </p:txBody>
      </p:sp>
      <p:sp>
        <p:nvSpPr>
          <p:cNvPr id="16" name="Shape 11"/>
          <p:cNvSpPr/>
          <p:nvPr/>
        </p:nvSpPr>
        <p:spPr>
          <a:xfrm>
            <a:off x="801410" y="5582960"/>
            <a:ext cx="13027582" cy="657939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/>
          <a:p/>
        </p:txBody>
      </p:sp>
      <p:sp>
        <p:nvSpPr>
          <p:cNvPr id="17" name="Text 12"/>
          <p:cNvSpPr/>
          <p:nvPr/>
        </p:nvSpPr>
        <p:spPr>
          <a:xfrm>
            <a:off x="1028343" y="5726668"/>
            <a:ext cx="34507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Control de Audio</a:t>
            </a:r>
            <a:endParaRPr lang="en-US" sz="1750"/>
          </a:p>
        </p:txBody>
      </p:sp>
      <p:sp>
        <p:nvSpPr>
          <p:cNvPr id="18" name="Text 13"/>
          <p:cNvSpPr/>
          <p:nvPr/>
        </p:nvSpPr>
        <p:spPr>
          <a:xfrm>
            <a:off x="4940379" y="5726668"/>
            <a:ext cx="8661797" cy="370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Windows Media Player SDK — </a:t>
            </a:r>
            <a:r>
              <a:rPr lang="en-US" sz="175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AxWindowsMediaPlayer</a:t>
            </a: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Control Reference</a:t>
            </a:r>
            <a:endParaRPr lang="en-US" sz="1750"/>
          </a:p>
        </p:txBody>
      </p:sp>
      <p:sp>
        <p:nvSpPr>
          <p:cNvPr id="19" name="Text 14"/>
          <p:cNvSpPr/>
          <p:nvPr/>
        </p:nvSpPr>
        <p:spPr>
          <a:xfrm>
            <a:off x="793790" y="6503670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 presentación fue creada como parte de un proyecto educativo demostrando la capacidad de C# para integrar componentes multimedia y gráficos.</a:t>
            </a:r>
            <a:endParaRPr lang="en-US" sz="175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0689" y="7788321"/>
            <a:ext cx="1895740" cy="348648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Custom</PresentationFormat>
  <Paragraphs>69</Paragraphs>
  <Slides>8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15">
      <vt:lpstr>Arial</vt:lpstr>
      <vt:lpstr>Calibri Light</vt:lpstr>
      <vt:lpstr>Calibri</vt:lpstr>
      <vt:lpstr>Poppins Light</vt:lpstr>
      <vt:lpstr>Roboto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cp:lastModifiedBy>jaramillogabriel04@outlook.com</cp:lastModifiedBy>
  <cp:revision>2</cp:revision>
  <dcterms:created xsi:type="dcterms:W3CDTF">2025-11-11T03:14:11Z</dcterms:created>
  <dcterms:modified xsi:type="dcterms:W3CDTF">2025-11-11T03:25:01Z</dcterms:modified>
</cp:coreProperties>
</file>